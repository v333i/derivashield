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DerivaShield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Aplicación del Cálculo Diferencial en Ciberseguridad Defensiva</a:t>
            </a:r>
          </a:p>
          <a:p>
            <a:r>
              <a:t>Detección de Anomalías de Red en Tiempo Real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Diseñar un sistema de detección de intrusos (IDS) pasivo.</a:t>
            </a:r>
          </a:p>
          <a:p>
            <a:pPr>
              <a:spcBef>
                <a:spcPts val="1400"/>
              </a:spcBef>
              <a:defRPr sz="2400"/>
            </a:pPr>
            <a:r>
              <a:t>Aplicar conceptos de Cálculo Diferencial en un entorno práctico.</a:t>
            </a:r>
          </a:p>
          <a:p>
            <a:pPr>
              <a:spcBef>
                <a:spcPts val="1400"/>
              </a:spcBef>
              <a:defRPr sz="2400"/>
            </a:pPr>
            <a:r>
              <a:t>Detectar ataques de Denegación de Servicio (DDoS) y Escaneo de Puertos.</a:t>
            </a:r>
          </a:p>
          <a:p>
            <a:pPr>
              <a:spcBef>
                <a:spcPts val="1400"/>
              </a:spcBef>
              <a:defRPr sz="2400"/>
            </a:pPr>
            <a:r>
              <a:t>Monitorear el tráfico de red en tiempo real mediante análisis matemático.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 de la Detección Tradicional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Los sistemas tradicionales usan reglas fijas (ej. 'Alerta si hay más de 5000 paquetes').</a:t>
            </a:r>
          </a:p>
          <a:p>
            <a:pPr>
              <a:spcBef>
                <a:spcPts val="1400"/>
              </a:spcBef>
              <a:defRPr sz="2400"/>
            </a:pPr>
            <a:r>
              <a:t>El tráfico de red moderno es altamente dinámico e impredecible.</a:t>
            </a:r>
          </a:p>
          <a:p>
            <a:pPr>
              <a:spcBef>
                <a:spcPts val="1400"/>
              </a:spcBef>
              <a:defRPr sz="2400"/>
            </a:pPr>
            <a:r>
              <a:t>Reglas estáticas generan falsos positivos o fallan en detectar ataques lentos.</a:t>
            </a:r>
          </a:p>
          <a:p>
            <a:pPr>
              <a:spcBef>
                <a:spcPts val="1400"/>
              </a:spcBef>
              <a:defRPr sz="2400"/>
            </a:pPr>
            <a:r>
              <a:t>Solución: Necesitamos medir la 'Tasa de Cambio' o aceleración del tráfico, no solo el volumen absoluto.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Solución: Cálculo Diferencial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Sea f(t) el volumen de tráfico (paquetes o puertos) en el instante t.</a:t>
            </a:r>
          </a:p>
          <a:p>
            <a:pPr>
              <a:spcBef>
                <a:spcPts val="1400"/>
              </a:spcBef>
              <a:defRPr sz="2400"/>
            </a:pPr>
            <a:r>
              <a:t>La Primera Derivada f'(t) representa la tasa de cambio o aceleración instantánea.</a:t>
            </a:r>
          </a:p>
          <a:p>
            <a:pPr>
              <a:spcBef>
                <a:spcPts val="1400"/>
              </a:spcBef>
              <a:defRPr sz="2400"/>
            </a:pPr>
            <a:r>
              <a:t>Como los datos son discretos (1 por segundo), usamos Diferencias Finitas:</a:t>
            </a:r>
          </a:p>
          <a:p>
            <a:pPr>
              <a:spcBef>
                <a:spcPts val="1400"/>
              </a:spcBef>
              <a:defRPr sz="2400"/>
            </a:pPr>
            <a:r>
              <a:t>f'(t) ≈ [f(t) - f(t - Δt)] / Δt</a:t>
            </a:r>
          </a:p>
          <a:p>
            <a:pPr>
              <a:spcBef>
                <a:spcPts val="1400"/>
              </a:spcBef>
              <a:defRPr sz="2400"/>
            </a:pPr>
            <a:r>
              <a:t>Un valor muy alto de f'(t) indica un pico anormal (posible ataque).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Umbrales Dinámicos Estadísticos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¿Cómo sabemos si f'(t) es peligrosamente alto?</a:t>
            </a:r>
          </a:p>
          <a:p>
            <a:pPr>
              <a:spcBef>
                <a:spcPts val="1400"/>
              </a:spcBef>
              <a:defRPr sz="2400"/>
            </a:pPr>
            <a:r>
              <a:t>Calculamos la Media (μ) y la Desviación Estándar (σ) de las derivadas históricas.</a:t>
            </a:r>
          </a:p>
          <a:p>
            <a:pPr>
              <a:spcBef>
                <a:spcPts val="1400"/>
              </a:spcBef>
              <a:defRPr sz="2400"/>
            </a:pPr>
            <a:r>
              <a:t>Establecemos un umbral dinámico: Umbral = μ + (k * σ).</a:t>
            </a:r>
          </a:p>
          <a:p>
            <a:pPr>
              <a:spcBef>
                <a:spcPts val="1400"/>
              </a:spcBef>
              <a:defRPr sz="2400"/>
            </a:pPr>
            <a:r>
              <a:t>Donde 'k' es una constante de sensibilidad ajustable (Filtro Matemático).</a:t>
            </a:r>
          </a:p>
          <a:p>
            <a:pPr>
              <a:spcBef>
                <a:spcPts val="1400"/>
              </a:spcBef>
              <a:defRPr sz="2400"/>
            </a:pPr>
            <a:r>
              <a:t>Si |f'(t)| &gt; Umbral, el sistema dispara una alerta roja.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Detección Específica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Ataques DDoS: Analizamos la métrica 'Paquetes por Segundo'. Un aumento abrupto (f'(t) alto) indica una inundación de datos.</a:t>
            </a:r>
          </a:p>
          <a:p>
            <a:pPr>
              <a:spcBef>
                <a:spcPts val="1400"/>
              </a:spcBef>
              <a:defRPr sz="2400"/>
            </a:pPr>
            <a:r>
              <a:t>Port Scanning: Analizamos la métrica 'Puertos Destino Únicos'. Un escáner como Nmap contactará miles de puertos distintos rápidamente.</a:t>
            </a:r>
          </a:p>
          <a:p>
            <a:pPr>
              <a:spcBef>
                <a:spcPts val="1400"/>
              </a:spcBef>
              <a:defRPr sz="2400"/>
            </a:pPr>
            <a:r>
              <a:t>Filtro de Ruido: Se requiere una aceleración mínima absoluta (ej. &gt;100 paquetes/s²) para ignorar el ruido estadístico normal del sistema operativo.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y Tecnologías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Lenguaje Core: Python 3.</a:t>
            </a:r>
          </a:p>
          <a:p>
            <a:pPr>
              <a:spcBef>
                <a:spcPts val="1400"/>
              </a:spcBef>
              <a:defRPr sz="2400"/>
            </a:pPr>
            <a:r>
              <a:t>Captura de Red: Scapy y Npcap (Lectura de paquetes en Capa 2/3).</a:t>
            </a:r>
          </a:p>
          <a:p>
            <a:pPr>
              <a:spcBef>
                <a:spcPts val="1400"/>
              </a:spcBef>
              <a:defRPr sz="2400"/>
            </a:pPr>
            <a:r>
              <a:t>Motor Matemático: Numpy (Vectores, Media, Desviación Estándar).</a:t>
            </a:r>
          </a:p>
          <a:p>
            <a:pPr>
              <a:spcBef>
                <a:spcPts val="1400"/>
              </a:spcBef>
              <a:defRPr sz="2400"/>
            </a:pPr>
            <a:r>
              <a:t>Interfaz Gráfica (SOC): Dash y Plotly (Visualización en vivo, Dark Mode, Glassmorphism).</a:t>
            </a:r>
          </a:p>
          <a:p>
            <a:pPr>
              <a:spcBef>
                <a:spcPts val="1400"/>
              </a:spcBef>
              <a:defRPr sz="2400"/>
            </a:pPr>
            <a:r>
              <a:t>Persistencia: SQLite3 (Registro histórico de alertas).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El Cálculo Diferencial es una herramienta poderosa para analizar flujos de datos dinámicos.</a:t>
            </a:r>
          </a:p>
          <a:p>
            <a:pPr>
              <a:spcBef>
                <a:spcPts val="1400"/>
              </a:spcBef>
              <a:defRPr sz="2400"/>
            </a:pPr>
            <a:r>
              <a:t>La tasa de cambio (Derivada) detecta ataques más rápido que los promedios estáticos.</a:t>
            </a:r>
          </a:p>
          <a:p>
            <a:pPr>
              <a:spcBef>
                <a:spcPts val="1400"/>
              </a:spcBef>
              <a:defRPr sz="2400"/>
            </a:pPr>
            <a:r>
              <a:t>El sistema es puramente pasivo y no interfiere con la red, cumpliendo el rol defensivo.</a:t>
            </a:r>
          </a:p>
          <a:p>
            <a:pPr>
              <a:spcBef>
                <a:spcPts val="1400"/>
              </a:spcBef>
              <a:defRPr sz="2400"/>
            </a:pPr>
            <a:r>
              <a:t>DerivaShield demuestra que las matemáticas puras tienen una aplicación directa en la Ciberseguridad moderna.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